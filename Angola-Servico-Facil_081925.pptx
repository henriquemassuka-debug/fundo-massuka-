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9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Hanken Grotesk Medium" panose="020B0604020202020204" charset="0"/>
      <p:regular r:id="rId16"/>
    </p:embeddedFont>
    <p:embeddedFont>
      <p:font typeface="Hanken Grotesk Bold" panose="020B0604020202020204" charset="0"/>
      <p:regular r:id="rId17"/>
    </p:embeddedFont>
    <p:embeddedFont>
      <p:font typeface="Anybody Black" panose="020B0604020202020204" charset="0"/>
      <p:regular r:id="rId18"/>
    </p:embeddedFont>
    <p:embeddedFont>
      <p:font typeface="Hanken Grotesk" panose="020B0604020202020204" charset="0"/>
      <p:regular r:id="rId19"/>
    </p:embeddedFont>
    <p:embeddedFont>
      <p:font typeface="Calibri Light" panose="020F0302020204030204" pitchFamily="34" charset="0"/>
      <p:regular r:id="rId20"/>
      <p:italic r:id="rId21"/>
    </p:embeddedFont>
    <p:embeddedFont>
      <p:font typeface="Hanken Grotesk SemiBold" panose="020B0604020202020204" charset="0"/>
      <p:regular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4301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a proposta como uma forma de tornar o acesso aos serviços públicos mais simples, centralizado e acompanhável.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retomando a ideia central: o cidadão deve conseguir encontrar a informação, submeter o pedido e acompanhar o resultado sem perder o percurso.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588852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6803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29360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53873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78813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28797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4820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88745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447513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35110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715338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FF3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411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755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017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82588" y="541700"/>
            <a:ext cx="6832429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00" b="1" kern="100" spc="108" dirty="0">
                <a:solidFill>
                  <a:srgbClr val="000000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0"/>
              </a:rPr>
              <a:t>PROPOSTA ACADÉMICA · SERVIÇOS PÚBLICOS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82588" y="2823523"/>
            <a:ext cx="6349841" cy="26637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7000"/>
              </a:lnSpc>
              <a:buNone/>
            </a:pPr>
            <a:r>
              <a:rPr lang="en-US" sz="7600" i="1" kern="100" spc="-266" dirty="0">
                <a:solidFill>
                  <a:srgbClr val="000000"/>
                </a:solidFill>
                <a:latin typeface="Anybody Black" pitchFamily="34" charset="0"/>
                <a:ea typeface="Anybody Black" pitchFamily="34" charset="-122"/>
                <a:cs typeface="Anybody Black" pitchFamily="34" charset="0"/>
              </a:rPr>
              <a:t>Angola</a:t>
            </a:r>
            <a:endParaRPr lang="en-US" sz="7600" dirty="0"/>
          </a:p>
          <a:p>
            <a:pPr marL="0" indent="0" algn="l">
              <a:lnSpc>
                <a:spcPct val="77000"/>
              </a:lnSpc>
              <a:buNone/>
            </a:pPr>
            <a:r>
              <a:rPr lang="en-US" sz="7600" i="1" kern="100" spc="-266" dirty="0">
                <a:solidFill>
                  <a:srgbClr val="000000"/>
                </a:solidFill>
                <a:latin typeface="Anybody Black" pitchFamily="34" charset="0"/>
                <a:ea typeface="Anybody Black" pitchFamily="34" charset="-122"/>
                <a:cs typeface="Anybody Black" pitchFamily="34" charset="0"/>
              </a:rPr>
              <a:t>Serviço Fácil</a:t>
            </a:r>
            <a:endParaRPr lang="en-US" sz="7600" dirty="0"/>
          </a:p>
        </p:txBody>
      </p:sp>
      <p:sp>
        <p:nvSpPr>
          <p:cNvPr id="5" name="Text 3"/>
          <p:cNvSpPr/>
          <p:nvPr/>
        </p:nvSpPr>
        <p:spPr>
          <a:xfrm>
            <a:off x="482588" y="5668161"/>
            <a:ext cx="6832429" cy="284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0"/>
              </a:rPr>
              <a:t>Um percurso digital mais claro para cada cidadão.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82588" y="6024364"/>
            <a:ext cx="1626948" cy="30023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596885" y="6082820"/>
            <a:ext cx="2007939" cy="198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50" b="1" kern="100" spc="122" dirty="0">
                <a:solidFill>
                  <a:srgbClr val="FFFFFF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0"/>
              </a:rPr>
              <a:t>WEB · ANGOLA</a:t>
            </a:r>
            <a:endParaRPr lang="en-US" sz="13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89" y="440100"/>
            <a:ext cx="11759906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00" b="1" kern="100" spc="108" dirty="0">
                <a:solidFill>
                  <a:srgbClr val="0B0B0B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0"/>
              </a:rPr>
              <a:t>O CONTEXTO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31789" y="714526"/>
            <a:ext cx="11328117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400" i="1" kern="100" spc="-85" dirty="0">
                <a:solidFill>
                  <a:srgbClr val="0B0B0B"/>
                </a:solidFill>
                <a:latin typeface="Anybody Black" pitchFamily="34" charset="0"/>
                <a:ea typeface="Anybody Black" pitchFamily="34" charset="-122"/>
                <a:cs typeface="Anybody Black" pitchFamily="34" charset="0"/>
              </a:rPr>
              <a:t>O acesso aos serviços públicos ainda é difícil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31789" y="1291332"/>
            <a:ext cx="3572778" cy="5134868"/>
          </a:xfrm>
          <a:prstGeom prst="rect">
            <a:avLst/>
          </a:prstGeom>
          <a:noFill/>
          <a:ln w="25399">
            <a:solidFill>
              <a:srgbClr val="242424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83" y="1545332"/>
            <a:ext cx="431789" cy="431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783" y="2119463"/>
            <a:ext cx="3064791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B0B0B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0"/>
              </a:rPr>
              <a:t>Informação dispersa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85783" y="2643080"/>
            <a:ext cx="3064791" cy="1139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0B0B0B"/>
                </a:solidFill>
                <a:latin typeface="Hanken Grotesk" pitchFamily="34" charset="0"/>
                <a:ea typeface="Hanken Grotesk" pitchFamily="34" charset="-122"/>
                <a:cs typeface="Hanken Grotesk" pitchFamily="34" charset="0"/>
              </a:rPr>
              <a:t>O cidadão procura instruções em diferentes canais e nem sempre encontra uma resposta clara.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309359" y="1291332"/>
            <a:ext cx="3572877" cy="5134868"/>
          </a:xfrm>
          <a:prstGeom prst="rect">
            <a:avLst/>
          </a:prstGeom>
          <a:noFill/>
          <a:ln w="25399">
            <a:solidFill>
              <a:srgbClr val="242424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3353" y="1545332"/>
            <a:ext cx="431789" cy="431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63353" y="2119463"/>
            <a:ext cx="3064890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B0B0B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0"/>
              </a:rPr>
              <a:t>Deslocações e filas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4563353" y="2643080"/>
            <a:ext cx="3064890" cy="854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0B0B0B"/>
                </a:solidFill>
                <a:latin typeface="Hanken Grotesk" pitchFamily="34" charset="0"/>
                <a:ea typeface="Hanken Grotesk" pitchFamily="34" charset="-122"/>
                <a:cs typeface="Hanken Grotesk" pitchFamily="34" charset="0"/>
              </a:rPr>
              <a:t>Muitos pedidos exigem presença física, deslocações e tempo de espera.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8187029" y="1291332"/>
            <a:ext cx="3572877" cy="5134868"/>
          </a:xfrm>
          <a:prstGeom prst="rect">
            <a:avLst/>
          </a:prstGeom>
          <a:noFill/>
          <a:ln w="25399">
            <a:solidFill>
              <a:srgbClr val="242424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1022" y="1545332"/>
            <a:ext cx="431789" cy="431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41022" y="2119463"/>
            <a:ext cx="3064890" cy="731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B0B0B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0"/>
              </a:rPr>
              <a:t>Pouco acompanhamento</a:t>
            </a:r>
            <a:endParaRPr lang="en-US" sz="2400" dirty="0"/>
          </a:p>
        </p:txBody>
      </p:sp>
      <p:sp>
        <p:nvSpPr>
          <p:cNvPr id="15" name="Text 10"/>
          <p:cNvSpPr/>
          <p:nvPr/>
        </p:nvSpPr>
        <p:spPr>
          <a:xfrm>
            <a:off x="8441022" y="3008801"/>
            <a:ext cx="3064890" cy="1139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0B0B0B"/>
                </a:solidFill>
                <a:latin typeface="Hanken Grotesk" pitchFamily="34" charset="0"/>
                <a:ea typeface="Hanken Grotesk" pitchFamily="34" charset="-122"/>
                <a:cs typeface="Hanken Grotesk" pitchFamily="34" charset="0"/>
              </a:rPr>
              <a:t>Depois de submeter um pedido, nem sempre é possível saber em que estado se encontra.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509" cy="6858000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3" name="Text 1"/>
          <p:cNvSpPr/>
          <p:nvPr/>
        </p:nvSpPr>
        <p:spPr>
          <a:xfrm>
            <a:off x="380990" y="465500"/>
            <a:ext cx="3276518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00" b="1" kern="100" spc="108" dirty="0">
                <a:solidFill>
                  <a:srgbClr val="FFFFFF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0"/>
              </a:rPr>
              <a:t>A PROPOSTA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80990" y="739926"/>
            <a:ext cx="2895528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400" i="1" kern="100" spc="-85" dirty="0">
                <a:solidFill>
                  <a:srgbClr val="FFFFFF"/>
                </a:solidFill>
                <a:latin typeface="Anybody Black" pitchFamily="34" charset="0"/>
                <a:ea typeface="Anybody Black" pitchFamily="34" charset="-122"/>
                <a:cs typeface="Anybody Black" pitchFamily="34" charset="0"/>
              </a:rPr>
              <a:t>Objectivos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80990" y="6014291"/>
            <a:ext cx="2895528" cy="390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anken Grotesk Medium" pitchFamily="34" charset="0"/>
                <a:ea typeface="Hanken Grotesk Medium" pitchFamily="34" charset="-122"/>
                <a:cs typeface="Hanken Grotesk Medium" pitchFamily="34" charset="0"/>
              </a:rPr>
              <a:t>Uma experiência única para procurar, pedir e acompanhar serviços.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089298" y="431800"/>
            <a:ext cx="2353608" cy="599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4317892" y="660400"/>
            <a:ext cx="377816" cy="377825"/>
          </a:xfrm>
          <a:prstGeom prst="ellipse">
            <a:avLst/>
          </a:prstGeom>
          <a:solidFill>
            <a:srgbClr val="0B0B0B"/>
          </a:solidFill>
          <a:ln/>
        </p:spPr>
      </p:sp>
      <p:sp>
        <p:nvSpPr>
          <p:cNvPr id="8" name="Text 6"/>
          <p:cNvSpPr/>
          <p:nvPr/>
        </p:nvSpPr>
        <p:spPr>
          <a:xfrm>
            <a:off x="4416116" y="687388"/>
            <a:ext cx="790952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Hanken Grotesk SemiBold" pitchFamily="34" charset="0"/>
                <a:ea typeface="Hanken Grotesk SemiBold" pitchFamily="34" charset="-122"/>
                <a:cs typeface="Hanken Grotesk SemiBold" pitchFamily="34" charset="0"/>
              </a:rPr>
              <a:t>1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4317892" y="1139281"/>
            <a:ext cx="1896420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0"/>
              </a:rPr>
              <a:t>Centralizar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317892" y="1662898"/>
            <a:ext cx="1896420" cy="1139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0"/>
              </a:rPr>
              <a:t>Reunir serviços públicos num único portal, organizado por categorias.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747698" y="431800"/>
            <a:ext cx="2353708" cy="599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976293" y="660400"/>
            <a:ext cx="377816" cy="377825"/>
          </a:xfrm>
          <a:prstGeom prst="ellipse">
            <a:avLst/>
          </a:prstGeom>
          <a:solidFill>
            <a:srgbClr val="0B0B0B"/>
          </a:solidFill>
          <a:ln/>
        </p:spPr>
      </p:sp>
      <p:sp>
        <p:nvSpPr>
          <p:cNvPr id="13" name="Text 11"/>
          <p:cNvSpPr/>
          <p:nvPr/>
        </p:nvSpPr>
        <p:spPr>
          <a:xfrm>
            <a:off x="7074517" y="687388"/>
            <a:ext cx="790952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Hanken Grotesk SemiBold" pitchFamily="34" charset="0"/>
                <a:ea typeface="Hanken Grotesk SemiBold" pitchFamily="34" charset="-122"/>
                <a:cs typeface="Hanken Grotesk SemiBold" pitchFamily="34" charset="0"/>
              </a:rPr>
              <a:t>2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6976293" y="1139281"/>
            <a:ext cx="1896519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0"/>
              </a:rPr>
              <a:t>Simplificar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976293" y="1662898"/>
            <a:ext cx="1896519" cy="1709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0"/>
              </a:rPr>
              <a:t>Tornar mais simples a consulta, o preenchimento e o acompanhamento dos pedidos.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406198" y="431800"/>
            <a:ext cx="2353608" cy="599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9634793" y="660400"/>
            <a:ext cx="377816" cy="377825"/>
          </a:xfrm>
          <a:prstGeom prst="ellipse">
            <a:avLst/>
          </a:prstGeom>
          <a:solidFill>
            <a:srgbClr val="0B0B0B"/>
          </a:solidFill>
          <a:ln/>
        </p:spPr>
      </p:sp>
      <p:sp>
        <p:nvSpPr>
          <p:cNvPr id="18" name="Text 16"/>
          <p:cNvSpPr/>
          <p:nvPr/>
        </p:nvSpPr>
        <p:spPr>
          <a:xfrm>
            <a:off x="9733017" y="687388"/>
            <a:ext cx="790952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Hanken Grotesk SemiBold" pitchFamily="34" charset="0"/>
                <a:ea typeface="Hanken Grotesk SemiBold" pitchFamily="34" charset="-122"/>
                <a:cs typeface="Hanken Grotesk SemiBold" pitchFamily="34" charset="0"/>
              </a:rPr>
              <a:t>3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9634793" y="1139281"/>
            <a:ext cx="1896420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0"/>
              </a:rPr>
              <a:t>Aproximar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634793" y="1662898"/>
            <a:ext cx="1896420" cy="1139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0"/>
              </a:rPr>
              <a:t>Criar uma ligação mais directa entre cidadãos e instituições.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89" y="440100"/>
            <a:ext cx="11759906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00" b="1" kern="100" spc="108" dirty="0">
                <a:solidFill>
                  <a:srgbClr val="0B0B0B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0"/>
              </a:rPr>
              <a:t>A SOLUÇÃO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31789" y="714526"/>
            <a:ext cx="11328117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400" i="1" kern="100" spc="-85" dirty="0">
                <a:solidFill>
                  <a:srgbClr val="0B0B0B"/>
                </a:solidFill>
                <a:latin typeface="Anybody Black" pitchFamily="34" charset="0"/>
                <a:ea typeface="Anybody Black" pitchFamily="34" charset="-122"/>
                <a:cs typeface="Anybody Black" pitchFamily="34" charset="0"/>
              </a:rPr>
              <a:t>Uma plataforma web pensada para o cidadão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789" y="1265932"/>
            <a:ext cx="539736" cy="539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31789" y="1948013"/>
            <a:ext cx="3572778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B0B0B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0"/>
              </a:rPr>
              <a:t>Catálogo de serviços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31789" y="2471630"/>
            <a:ext cx="3572778" cy="854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0B0B0B"/>
                </a:solidFill>
                <a:latin typeface="Hanken Grotesk" pitchFamily="34" charset="0"/>
                <a:ea typeface="Hanken Grotesk" pitchFamily="34" charset="-122"/>
                <a:cs typeface="Hanken Grotesk" pitchFamily="34" charset="0"/>
              </a:rPr>
              <a:t>Serviços agrupados por categoria, com informação essencial e requisitos visíveis.</a:t>
            </a:r>
            <a:endParaRPr lang="en-US" sz="1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9359" y="1265932"/>
            <a:ext cx="539736" cy="539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09359" y="1948013"/>
            <a:ext cx="3572877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B0B0B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0"/>
              </a:rPr>
              <a:t>Pedidos digitais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4309359" y="2471630"/>
            <a:ext cx="3572877" cy="569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0B0B0B"/>
                </a:solidFill>
                <a:latin typeface="Hanken Grotesk" pitchFamily="34" charset="0"/>
                <a:ea typeface="Hanken Grotesk" pitchFamily="34" charset="-122"/>
                <a:cs typeface="Hanken Grotesk" pitchFamily="34" charset="0"/>
              </a:rPr>
              <a:t>Formulários online e uma área pessoal para gerir cada solicitação.</a:t>
            </a:r>
            <a:endParaRPr lang="en-US" sz="1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7029" y="1265932"/>
            <a:ext cx="539736" cy="5397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87029" y="1948013"/>
            <a:ext cx="3572877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B0B0B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0"/>
              </a:rPr>
              <a:t>Estado e notificações</a:t>
            </a:r>
            <a:endParaRPr lang="en-US" sz="2400" dirty="0"/>
          </a:p>
        </p:txBody>
      </p:sp>
      <p:sp>
        <p:nvSpPr>
          <p:cNvPr id="12" name="Text 7"/>
          <p:cNvSpPr/>
          <p:nvPr/>
        </p:nvSpPr>
        <p:spPr>
          <a:xfrm>
            <a:off x="8187029" y="2471630"/>
            <a:ext cx="3572877" cy="854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0B0B0B"/>
                </a:solidFill>
                <a:latin typeface="Hanken Grotesk" pitchFamily="34" charset="0"/>
                <a:ea typeface="Hanken Grotesk" pitchFamily="34" charset="-122"/>
                <a:cs typeface="Hanken Grotesk" pitchFamily="34" charset="0"/>
              </a:rPr>
              <a:t>Actualizações claras para saber o que já foi feito e qual é o próximo passo.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89" y="440100"/>
            <a:ext cx="11759906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00" b="1" kern="100" spc="108" dirty="0">
                <a:solidFill>
                  <a:srgbClr val="0B0B0B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0"/>
              </a:rPr>
              <a:t>O PERCURSO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31789" y="714526"/>
            <a:ext cx="11328117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400" i="1" kern="100" spc="-85" dirty="0">
                <a:solidFill>
                  <a:srgbClr val="0B0B0B"/>
                </a:solidFill>
                <a:latin typeface="Anybody Black" pitchFamily="34" charset="0"/>
                <a:ea typeface="Anybody Black" pitchFamily="34" charset="-122"/>
                <a:cs typeface="Anybody Black" pitchFamily="34" charset="0"/>
              </a:rPr>
              <a:t>Como funciona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31789" y="2527102"/>
            <a:ext cx="3572778" cy="2290465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5" name="Text 3"/>
          <p:cNvSpPr/>
          <p:nvPr/>
        </p:nvSpPr>
        <p:spPr>
          <a:xfrm>
            <a:off x="660383" y="2755702"/>
            <a:ext cx="85147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anken Grotesk SemiBold" pitchFamily="34" charset="0"/>
                <a:ea typeface="Hanken Grotesk SemiBold" pitchFamily="34" charset="-122"/>
                <a:cs typeface="Hanken Grotesk SemiBold" pitchFamily="34" charset="0"/>
              </a:rPr>
              <a:t>01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60383" y="3057922"/>
            <a:ext cx="3115490" cy="19050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7" name="Text 5"/>
          <p:cNvSpPr/>
          <p:nvPr/>
        </p:nvSpPr>
        <p:spPr>
          <a:xfrm>
            <a:off x="660383" y="3215433"/>
            <a:ext cx="3115589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0"/>
              </a:rPr>
              <a:t>Consultar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60383" y="3739051"/>
            <a:ext cx="3115589" cy="854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0"/>
              </a:rPr>
              <a:t>Encontrar o serviço necessário no catálogo e verificar os requisitos.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09359" y="2527102"/>
            <a:ext cx="3572877" cy="2290465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10" name="Text 8"/>
          <p:cNvSpPr/>
          <p:nvPr/>
        </p:nvSpPr>
        <p:spPr>
          <a:xfrm>
            <a:off x="4537954" y="2755702"/>
            <a:ext cx="85147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anken Grotesk SemiBold" pitchFamily="34" charset="0"/>
                <a:ea typeface="Hanken Grotesk SemiBold" pitchFamily="34" charset="-122"/>
                <a:cs typeface="Hanken Grotesk SemiBold" pitchFamily="34" charset="0"/>
              </a:rPr>
              <a:t>02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37954" y="3057922"/>
            <a:ext cx="3115688" cy="19050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12" name="Text 10"/>
          <p:cNvSpPr/>
          <p:nvPr/>
        </p:nvSpPr>
        <p:spPr>
          <a:xfrm>
            <a:off x="4537954" y="3215433"/>
            <a:ext cx="3115688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0"/>
              </a:rPr>
              <a:t>Submeter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37954" y="3739051"/>
            <a:ext cx="3115688" cy="569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0"/>
              </a:rPr>
              <a:t>Preencher o formulário digital e enviar o pedido à instituição.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187029" y="2527102"/>
            <a:ext cx="3572877" cy="2290465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15" name="Text 13"/>
          <p:cNvSpPr/>
          <p:nvPr/>
        </p:nvSpPr>
        <p:spPr>
          <a:xfrm>
            <a:off x="8415623" y="2755702"/>
            <a:ext cx="85147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anken Grotesk SemiBold" pitchFamily="34" charset="0"/>
                <a:ea typeface="Hanken Grotesk SemiBold" pitchFamily="34" charset="-122"/>
                <a:cs typeface="Hanken Grotesk SemiBold" pitchFamily="34" charset="0"/>
              </a:rPr>
              <a:t>03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415623" y="3057922"/>
            <a:ext cx="3115688" cy="19050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17" name="Text 15"/>
          <p:cNvSpPr/>
          <p:nvPr/>
        </p:nvSpPr>
        <p:spPr>
          <a:xfrm>
            <a:off x="8415623" y="3215433"/>
            <a:ext cx="3115688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0"/>
              </a:rPr>
              <a:t>Acompanhar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415623" y="3739051"/>
            <a:ext cx="3115688" cy="569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0"/>
              </a:rPr>
              <a:t>Consultar o estado do pedido até à sua conclusão.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31789" y="6234755"/>
            <a:ext cx="11759906" cy="195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200" dirty="0">
                <a:solidFill>
                  <a:srgbClr val="0B0B0B"/>
                </a:solidFill>
                <a:latin typeface="Hanken Grotesk Medium" pitchFamily="34" charset="0"/>
                <a:ea typeface="Hanken Grotesk Medium" pitchFamily="34" charset="-122"/>
                <a:cs typeface="Hanken Grotesk Medium" pitchFamily="34" charset="0"/>
              </a:rPr>
              <a:t>Um fluxo curto: informação, pedido e acompanhamento no mesmo espaço.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89" y="440100"/>
            <a:ext cx="11759906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00" b="1" kern="100" spc="108" dirty="0">
                <a:solidFill>
                  <a:srgbClr val="0B0B0B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0"/>
              </a:rPr>
              <a:t>A BASE TÉCNICA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31789" y="714526"/>
            <a:ext cx="11328117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400" i="1" kern="100" spc="-85" dirty="0">
                <a:solidFill>
                  <a:srgbClr val="0B0B0B"/>
                </a:solidFill>
                <a:latin typeface="Anybody Black" pitchFamily="34" charset="0"/>
                <a:ea typeface="Anybody Black" pitchFamily="34" charset="-122"/>
                <a:cs typeface="Anybody Black" pitchFamily="34" charset="0"/>
              </a:rPr>
              <a:t>Tecnologias da solução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31789" y="1291332"/>
            <a:ext cx="3572778" cy="5134868"/>
          </a:xfrm>
          <a:prstGeom prst="rect">
            <a:avLst/>
          </a:prstGeom>
          <a:solidFill>
            <a:srgbClr val="FFFFFF"/>
          </a:solidFill>
          <a:ln w="25399">
            <a:solidFill>
              <a:srgbClr val="242424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083" y="1532632"/>
            <a:ext cx="431789" cy="431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3083" y="2049613"/>
            <a:ext cx="3090190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0"/>
              </a:rPr>
              <a:t>HTML + CSS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73083" y="2573230"/>
            <a:ext cx="3090190" cy="854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0"/>
              </a:rPr>
              <a:t>Estrutura da plataforma, organização do conteúdo e interface visual responsiva.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309359" y="1291332"/>
            <a:ext cx="3572877" cy="5134868"/>
          </a:xfrm>
          <a:prstGeom prst="rect">
            <a:avLst/>
          </a:prstGeom>
          <a:solidFill>
            <a:srgbClr val="FFFFFF"/>
          </a:solidFill>
          <a:ln w="25399">
            <a:solidFill>
              <a:srgbClr val="242424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0653" y="1532632"/>
            <a:ext cx="431789" cy="431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50653" y="2049613"/>
            <a:ext cx="3090289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0"/>
              </a:rPr>
              <a:t>JavaScript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4550653" y="2573230"/>
            <a:ext cx="3090289" cy="854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0"/>
              </a:rPr>
              <a:t>Interacções, validação dos formulários e respostas imediatas ao utilizador.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8187029" y="1291332"/>
            <a:ext cx="3572877" cy="5134868"/>
          </a:xfrm>
          <a:prstGeom prst="rect">
            <a:avLst/>
          </a:prstGeom>
          <a:solidFill>
            <a:srgbClr val="FFFFFF"/>
          </a:solidFill>
          <a:ln w="25399">
            <a:solidFill>
              <a:srgbClr val="242424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8323" y="1532632"/>
            <a:ext cx="431789" cy="431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28323" y="2049613"/>
            <a:ext cx="3090289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0"/>
              </a:rPr>
              <a:t>PHP + MySQL</a:t>
            </a:r>
            <a:endParaRPr lang="en-US" sz="2400" dirty="0"/>
          </a:p>
        </p:txBody>
      </p:sp>
      <p:sp>
        <p:nvSpPr>
          <p:cNvPr id="15" name="Text 10"/>
          <p:cNvSpPr/>
          <p:nvPr/>
        </p:nvSpPr>
        <p:spPr>
          <a:xfrm>
            <a:off x="8428323" y="2573230"/>
            <a:ext cx="3090289" cy="854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0"/>
              </a:rPr>
              <a:t>Lógica do sistema, armazenamento dos pedidos e gestão dos dados.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6858000"/>
          </a:xfrm>
          <a:prstGeom prst="rect">
            <a:avLst/>
          </a:prstGeom>
          <a:solidFill>
            <a:srgbClr val="0B0B0B"/>
          </a:solidFill>
          <a:ln/>
        </p:spPr>
      </p:sp>
      <p:sp>
        <p:nvSpPr>
          <p:cNvPr id="3" name="Text 1"/>
          <p:cNvSpPr/>
          <p:nvPr/>
        </p:nvSpPr>
        <p:spPr>
          <a:xfrm>
            <a:off x="380990" y="465500"/>
            <a:ext cx="3682908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00" b="1" kern="100" spc="108" dirty="0">
                <a:solidFill>
                  <a:srgbClr val="FFFFFF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0"/>
              </a:rPr>
              <a:t>CONFIANÇA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80990" y="739926"/>
            <a:ext cx="3301917" cy="1657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400" i="1" kern="100" spc="-85" dirty="0">
                <a:solidFill>
                  <a:srgbClr val="FFFFFF"/>
                </a:solidFill>
                <a:latin typeface="Anybody Black" pitchFamily="34" charset="0"/>
                <a:ea typeface="Anybody Black" pitchFamily="34" charset="-122"/>
                <a:cs typeface="Anybody Black" pitchFamily="34" charset="0"/>
              </a:rPr>
              <a:t>Segurança desde o primeiro acesso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80990" y="6014291"/>
            <a:ext cx="3301917" cy="390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anken Grotesk Medium" pitchFamily="34" charset="0"/>
                <a:ea typeface="Hanken Grotesk Medium" pitchFamily="34" charset="-122"/>
                <a:cs typeface="Hanken Grotesk Medium" pitchFamily="34" charset="0"/>
              </a:rPr>
              <a:t>A segurança acompanha o cidadão em cada etapa do serviço.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688" y="431844"/>
            <a:ext cx="431789" cy="431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43371" y="440781"/>
            <a:ext cx="6616534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B0B0B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0"/>
              </a:rPr>
              <a:t>Autenticação e permissões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143371" y="964398"/>
            <a:ext cx="6616534" cy="569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0B0B0B"/>
                </a:solidFill>
                <a:latin typeface="Hanken Grotesk" pitchFamily="34" charset="0"/>
                <a:ea typeface="Hanken Grotesk" pitchFamily="34" charset="-122"/>
                <a:cs typeface="Hanken Grotesk" pitchFamily="34" charset="0"/>
              </a:rPr>
              <a:t>Cada utilizador acede apenas às funções e informações que lhe correspondem.</a:t>
            </a:r>
            <a:endParaRPr lang="en-US" sz="17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688" y="2531511"/>
            <a:ext cx="431789" cy="431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43371" y="2540448"/>
            <a:ext cx="6616534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B0B0B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0"/>
              </a:rPr>
              <a:t>Dados e sessões protegidos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5143371" y="3064066"/>
            <a:ext cx="6616534" cy="569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0B0B0B"/>
                </a:solidFill>
                <a:latin typeface="Hanken Grotesk" pitchFamily="34" charset="0"/>
                <a:ea typeface="Hanken Grotesk" pitchFamily="34" charset="-122"/>
                <a:cs typeface="Hanken Grotesk" pitchFamily="34" charset="0"/>
              </a:rPr>
              <a:t>Os dados são validados e as sessões são controladas para reduzir riscos.</a:t>
            </a:r>
            <a:endParaRPr lang="en-US" sz="17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5688" y="4631277"/>
            <a:ext cx="431789" cy="4318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143371" y="4640214"/>
            <a:ext cx="6616534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B0B0B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0"/>
              </a:rPr>
              <a:t>Registos e privacidade</a:t>
            </a:r>
            <a:endParaRPr lang="en-US" sz="2400" dirty="0"/>
          </a:p>
        </p:txBody>
      </p:sp>
      <p:sp>
        <p:nvSpPr>
          <p:cNvPr id="14" name="Text 9"/>
          <p:cNvSpPr/>
          <p:nvPr/>
        </p:nvSpPr>
        <p:spPr>
          <a:xfrm>
            <a:off x="5143371" y="5163832"/>
            <a:ext cx="6616534" cy="569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0B0B0B"/>
                </a:solidFill>
                <a:latin typeface="Hanken Grotesk" pitchFamily="34" charset="0"/>
                <a:ea typeface="Hanken Grotesk" pitchFamily="34" charset="-122"/>
                <a:cs typeface="Hanken Grotesk" pitchFamily="34" charset="0"/>
              </a:rPr>
              <a:t>Registos, cópias de segurança e boas práticas de privacidade apoiam a continuidade do serviço.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89" y="440100"/>
            <a:ext cx="11759906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00" b="1" kern="100" spc="108" dirty="0">
                <a:solidFill>
                  <a:srgbClr val="0B0B0B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0"/>
              </a:rPr>
              <a:t>IMPLEMENTAÇÃO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31789" y="762151"/>
            <a:ext cx="11328117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400" i="1" kern="100" spc="-85" dirty="0">
                <a:solidFill>
                  <a:srgbClr val="0B0B0B"/>
                </a:solidFill>
                <a:latin typeface="Anybody Black" pitchFamily="34" charset="0"/>
                <a:ea typeface="Anybody Black" pitchFamily="34" charset="-122"/>
                <a:cs typeface="Anybody Black" pitchFamily="34" charset="0"/>
              </a:rPr>
              <a:t>Limitações e próximos passos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789" y="2887762"/>
            <a:ext cx="539736" cy="539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31789" y="3639284"/>
            <a:ext cx="3572778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0B0B0B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0"/>
              </a:rPr>
              <a:t>Integração gradual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431789" y="4087110"/>
            <a:ext cx="3572778" cy="569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700" dirty="0">
                <a:solidFill>
                  <a:srgbClr val="0B0B0B"/>
                </a:solidFill>
                <a:latin typeface="Hanken Grotesk" pitchFamily="34" charset="0"/>
                <a:ea typeface="Hanken Grotesk" pitchFamily="34" charset="-122"/>
                <a:cs typeface="Hanken Grotesk" pitchFamily="34" charset="0"/>
              </a:rPr>
              <a:t>Integração gradual com instituições públicas.</a:t>
            </a:r>
            <a:endParaRPr lang="en-US" sz="1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9359" y="2887762"/>
            <a:ext cx="539736" cy="539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09310" y="3639284"/>
            <a:ext cx="3572877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0B0B0B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0"/>
              </a:rPr>
              <a:t>Acesso real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4309359" y="4087110"/>
            <a:ext cx="3572877" cy="569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700" dirty="0">
                <a:solidFill>
                  <a:srgbClr val="0B0B0B"/>
                </a:solidFill>
                <a:latin typeface="Hanken Grotesk" pitchFamily="34" charset="0"/>
                <a:ea typeface="Hanken Grotesk" pitchFamily="34" charset="-122"/>
                <a:cs typeface="Hanken Grotesk" pitchFamily="34" charset="0"/>
              </a:rPr>
              <a:t>Dependência de conectividade e literacia digital.</a:t>
            </a:r>
            <a:endParaRPr lang="en-US" sz="1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7029" y="2887762"/>
            <a:ext cx="539736" cy="5397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86979" y="3639284"/>
            <a:ext cx="3572877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0B0B0B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0"/>
              </a:rPr>
              <a:t>Testar antes de expandir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8187029" y="4087110"/>
            <a:ext cx="3572877" cy="569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700" dirty="0">
                <a:solidFill>
                  <a:srgbClr val="0B0B0B"/>
                </a:solidFill>
                <a:latin typeface="Hanken Grotesk" pitchFamily="34" charset="0"/>
                <a:ea typeface="Hanken Grotesk" pitchFamily="34" charset="-122"/>
                <a:cs typeface="Hanken Grotesk" pitchFamily="34" charset="0"/>
              </a:rPr>
              <a:t>Testes com utilizadores antes da expansão.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09182"/>
            <a:ext cx="7315017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189" y="490900"/>
            <a:ext cx="6857828" cy="17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00" b="1" kern="100" spc="108" dirty="0">
                <a:solidFill>
                  <a:srgbClr val="000000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0"/>
              </a:rPr>
              <a:t>CONCLUSÃO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189" y="2712664"/>
            <a:ext cx="6400640" cy="2523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7000"/>
              </a:lnSpc>
              <a:buNone/>
            </a:pPr>
            <a:r>
              <a:rPr lang="en-US" sz="5400" i="1" kern="100" spc="-189" dirty="0">
                <a:solidFill>
                  <a:srgbClr val="000000"/>
                </a:solidFill>
                <a:latin typeface="Anybody Black" pitchFamily="34" charset="0"/>
                <a:ea typeface="Anybody Black" pitchFamily="34" charset="-122"/>
                <a:cs typeface="Anybody Black" pitchFamily="34" charset="0"/>
              </a:rPr>
              <a:t>Uma experiência pública mais simples.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189" y="5434005"/>
            <a:ext cx="6400640" cy="569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0"/>
              </a:rPr>
              <a:t>O Angola Serviço Fácil transforma informação dispersa num percurso digital claro, acessível e acompanhável.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189" y="6075164"/>
            <a:ext cx="3571786" cy="30023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571486" y="6133620"/>
            <a:ext cx="3952776" cy="198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50" b="1" kern="100" spc="122" dirty="0">
                <a:solidFill>
                  <a:srgbClr val="FFFFFF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0"/>
              </a:rPr>
              <a:t>CONSULTAR · PEDIR · ACOMPANHAR</a:t>
            </a:r>
            <a:endParaRPr lang="en-US" sz="13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</TotalTime>
  <Words>479</Words>
  <Application>Microsoft Office PowerPoint</Application>
  <PresentationFormat>Widescreen</PresentationFormat>
  <Paragraphs>85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8" baseType="lpstr">
      <vt:lpstr>Calibri</vt:lpstr>
      <vt:lpstr>Hanken Grotesk Medium</vt:lpstr>
      <vt:lpstr>Hanken Grotesk Bold</vt:lpstr>
      <vt:lpstr>Anybody Black</vt:lpstr>
      <vt:lpstr>Hanken Grotesk</vt:lpstr>
      <vt:lpstr>Calibri Light</vt:lpstr>
      <vt:lpstr>Arial</vt:lpstr>
      <vt:lpstr>Hanken Grotesk SemiBold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lastModifiedBy>Fundo Henrique</cp:lastModifiedBy>
  <cp:revision>5</cp:revision>
  <dcterms:created xsi:type="dcterms:W3CDTF">2026-10-27T15:56:33Z</dcterms:created>
  <dcterms:modified xsi:type="dcterms:W3CDTF">2026-10-27T16:39:16Z</dcterms:modified>
</cp:coreProperties>
</file>